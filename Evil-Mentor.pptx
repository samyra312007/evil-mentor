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Inter Tight" panose="020B0604020202020204" charset="0"/>
      <p:regular r:id="rId13"/>
    </p:embeddedFont>
    <p:embeddedFont>
      <p:font typeface="Inter Tight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9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22233" y="1094184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233" y="1548051"/>
            <a:ext cx="9889212" cy="118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0"/>
              </a:lnSpc>
              <a:buNone/>
            </a:pPr>
            <a:r>
              <a:rPr lang="en-US" sz="7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Evil Mentor</a:t>
            </a:r>
            <a:endParaRPr lang="en-US" sz="7750" dirty="0"/>
          </a:p>
        </p:txBody>
      </p:sp>
      <p:sp>
        <p:nvSpPr>
          <p:cNvPr id="6" name="Text 3"/>
          <p:cNvSpPr/>
          <p:nvPr/>
        </p:nvSpPr>
        <p:spPr>
          <a:xfrm>
            <a:off x="722233" y="3044309"/>
            <a:ext cx="13185934" cy="237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00"/>
              </a:lnSpc>
              <a:buNone/>
            </a:pPr>
            <a:r>
              <a:rPr lang="en-US" sz="7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The AI That Hacks You So Hackers Can't</a:t>
            </a:r>
            <a:endParaRPr lang="en-US" sz="7750" dirty="0"/>
          </a:p>
        </p:txBody>
      </p:sp>
      <p:sp>
        <p:nvSpPr>
          <p:cNvPr id="7" name="Text 4"/>
          <p:cNvSpPr/>
          <p:nvPr/>
        </p:nvSpPr>
        <p:spPr>
          <a:xfrm>
            <a:off x="722233" y="5727263"/>
            <a:ext cx="13185934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233" y="6392704"/>
            <a:ext cx="6341269" cy="7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Team: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Code Blooded</a:t>
            </a:r>
            <a:endParaRPr lang="en-US" sz="16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Problem Statement: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PS2: AI Agent for the Real World</a:t>
            </a:r>
            <a:endParaRPr lang="en-US" sz="16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Colleges:</a:t>
            </a:r>
            <a:r>
              <a:rPr lang="en-US" sz="16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IIITDM Kurnool &amp; Jaypee Institute of Information Technology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25" y="6439138"/>
            <a:ext cx="5181362" cy="567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51391"/>
            <a:ext cx="4377928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Problem + Existing Gap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22233" y="1399461"/>
            <a:ext cx="1318593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22233" y="1808559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What is the problem?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2233" y="2247067"/>
            <a:ext cx="7082314" cy="56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Developers learn security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after a breach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not before</a:t>
            </a:r>
            <a:endParaRPr lang="en-US" sz="12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Security training is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boring, theoretical, and forgettable</a:t>
            </a:r>
            <a:endParaRPr lang="en-US" sz="12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Real vulnerabilities require real mistakes but mistakes in production are disastrous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233" y="2920246"/>
            <a:ext cx="708231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233" y="3198852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Who is affected?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2233" y="3637359"/>
            <a:ext cx="7082314" cy="56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Junior developers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90% have unknowingly introduced a security bug</a:t>
            </a:r>
            <a:endParaRPr lang="en-US" sz="12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Startups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with no dedicated security team</a:t>
            </a:r>
            <a:endParaRPr lang="en-US" sz="12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Engineering managers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who can't afford breaches or boring training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9833" y="1808559"/>
            <a:ext cx="344912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Current Solutions &amp; Key Gaps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89833" y="2261473"/>
            <a:ext cx="5725954" cy="956310"/>
          </a:xfrm>
          <a:prstGeom prst="roundRect">
            <a:avLst>
              <a:gd name="adj" fmla="val 11474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166973" y="2261473"/>
            <a:ext cx="91440" cy="956310"/>
          </a:xfrm>
          <a:prstGeom prst="roundRect">
            <a:avLst>
              <a:gd name="adj" fmla="val 152351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36054" y="2439114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CTF Platforms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36054" y="2877622"/>
            <a:ext cx="53020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Artificial, not integrated into daily work fake flags, not real threats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9833" y="3333869"/>
            <a:ext cx="5725954" cy="956310"/>
          </a:xfrm>
          <a:prstGeom prst="roundRect">
            <a:avLst>
              <a:gd name="adj" fmla="val 11474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66973" y="3333869"/>
            <a:ext cx="91440" cy="956310"/>
          </a:xfrm>
          <a:prstGeom prst="roundRect">
            <a:avLst>
              <a:gd name="adj" fmla="val 152351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36054" y="3511510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Security Linters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36054" y="3950018"/>
            <a:ext cx="53020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detect issues they don't teach developers how to find or fix them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9833" y="4406265"/>
            <a:ext cx="5725954" cy="956310"/>
          </a:xfrm>
          <a:prstGeom prst="roundRect">
            <a:avLst>
              <a:gd name="adj" fmla="val 11474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66973" y="4406265"/>
            <a:ext cx="91440" cy="956310"/>
          </a:xfrm>
          <a:prstGeom prst="roundRect">
            <a:avLst>
              <a:gd name="adj" fmla="val 152351"/>
            </a:avLst>
          </a:prstGeom>
          <a:solidFill>
            <a:srgbClr val="FE6A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36054" y="4583906"/>
            <a:ext cx="268724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Compliance Videos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36054" y="5022413"/>
            <a:ext cx="53020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Annual, static, and completely forgotten no adaptive difficulty or audit trail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233" y="5623560"/>
            <a:ext cx="1318593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233" y="5916573"/>
            <a:ext cx="13185934" cy="1661517"/>
          </a:xfrm>
          <a:prstGeom prst="roundRect">
            <a:avLst>
              <a:gd name="adj" fmla="val 838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4634" y="6001464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1118" y="6001464"/>
            <a:ext cx="29754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73791" y="6001464"/>
            <a:ext cx="297549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Evil Mentor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66465" y="6001464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4634" y="6326148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Realistic threats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1118" y="6326148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Fake CTF flags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73791" y="6326148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Real code injections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66465" y="6326148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4634" y="6658451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Daily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81118" y="6658451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Separate platform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73791" y="6658451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Inside dev environment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66465" y="6658451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4634" y="6990755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Adaptive difficulty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81118" y="6990755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Static challenges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73791" y="6990755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LLM-generated variations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66465" y="6990755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4634" y="7323058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Safety guarantee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81118" y="7323058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Could break things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73791" y="7323058"/>
            <a:ext cx="2975491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ArmorIQ policy-gated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66465" y="7323058"/>
            <a:ext cx="297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4B8EDD-72DA-B1E0-1782-BF6AF73DE929}"/>
              </a:ext>
            </a:extLst>
          </p:cNvPr>
          <p:cNvSpPr/>
          <p:nvPr/>
        </p:nvSpPr>
        <p:spPr>
          <a:xfrm>
            <a:off x="12723541" y="7738946"/>
            <a:ext cx="1806498" cy="4529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742236"/>
            <a:ext cx="4299585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Proposed Solution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954405" y="1562695"/>
            <a:ext cx="746736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 AI agent that intentionally injects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fake but safe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security issues into your development environment then challenges you to find them using ArmorClaw. It's an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escape room inside your codebase.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22233" y="1432203"/>
            <a:ext cx="22860" cy="586026"/>
          </a:xfrm>
          <a:prstGeom prst="rect">
            <a:avLst/>
          </a:prstGeom>
          <a:solidFill>
            <a:srgbClr val="FE6A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22233" y="2148721"/>
            <a:ext cx="769953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2233" y="2485311"/>
            <a:ext cx="304133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1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How it solves the problem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22233" y="2981801"/>
            <a:ext cx="7699534" cy="904756"/>
          </a:xfrm>
          <a:prstGeom prst="roundRect">
            <a:avLst>
              <a:gd name="adj" fmla="val 15397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24" y="2911792"/>
            <a:ext cx="185738" cy="18573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038" y="3770828"/>
            <a:ext cx="185738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265" y="3236833"/>
            <a:ext cx="718947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"Learn by hunting: Developers remember what they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actively find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."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77265" y="3469005"/>
            <a:ext cx="718947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Zero production risk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: Injections are harmless &amp; tagged as fake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22233" y="4002643"/>
            <a:ext cx="7699534" cy="904756"/>
          </a:xfrm>
          <a:prstGeom prst="roundRect">
            <a:avLst>
              <a:gd name="adj" fmla="val 15397"/>
            </a:avLst>
          </a:prstGeom>
          <a:solidFill>
            <a:srgbClr val="000000">
              <a:alpha val="95000"/>
            </a:srgbClr>
          </a:solidFill>
          <a:ln w="2286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24" y="3932634"/>
            <a:ext cx="185738" cy="18573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038" y="4791670"/>
            <a:ext cx="185738" cy="1857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7265" y="4257675"/>
            <a:ext cx="718947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"Measurable growth: AI grades performance and </a:t>
            </a: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adapts difficulty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."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977265" y="4489847"/>
            <a:ext cx="718947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Integrated into real workflow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: No separate training platform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722233" y="5037892"/>
            <a:ext cx="7699534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22233" y="5330904"/>
            <a:ext cx="7699534" cy="2156341"/>
          </a:xfrm>
          <a:prstGeom prst="roundRect">
            <a:avLst>
              <a:gd name="adj" fmla="val 64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84753" y="5415796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Feature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3193852" y="5415796"/>
            <a:ext cx="98905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CTF Platforms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500086" y="5415796"/>
            <a:ext cx="106596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Sec. Linters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883235" y="5415796"/>
            <a:ext cx="2376130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Evil Mentor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84753" y="5903000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 real codebase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193852" y="5903000"/>
            <a:ext cx="989052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00086" y="5903000"/>
            <a:ext cx="1065967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883235" y="5903000"/>
            <a:ext cx="2376130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84753" y="6235303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Teaches how to find bugs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193852" y="6235303"/>
            <a:ext cx="989052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00086" y="6235303"/>
            <a:ext cx="1065967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883235" y="6235303"/>
            <a:ext cx="2376130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84753" y="6567607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Adaptive to skill level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193852" y="6567607"/>
            <a:ext cx="989052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00086" y="6567607"/>
            <a:ext cx="1065967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883235" y="6567607"/>
            <a:ext cx="2376130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84753" y="6899910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Audit trail for managers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193852" y="6899910"/>
            <a:ext cx="989052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500086" y="6899910"/>
            <a:ext cx="1065967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5883235" y="6899910"/>
            <a:ext cx="2376130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(ArmorIQ)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884753" y="7232213"/>
            <a:ext cx="199191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 by policy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3193852" y="7232213"/>
            <a:ext cx="989052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❌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500086" y="7232213"/>
            <a:ext cx="1065967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883235" y="7232213"/>
            <a:ext cx="2376130" cy="17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✅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(ArmorIQ)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8633" y="649605"/>
            <a:ext cx="4564023" cy="48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Architecture + Tech Stack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208633" y="1282898"/>
            <a:ext cx="7699534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full-cycle AI pipeline from code analysis to graded feedback, governed at every step by ArmorIQ safety policies.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08633" y="1543883"/>
            <a:ext cx="7699534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39" y="1804868"/>
            <a:ext cx="5389602" cy="20223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66291" y="2320009"/>
            <a:ext cx="278390" cy="2783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718261" y="3310210"/>
            <a:ext cx="812901" cy="20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Inject Vuln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7120" y="2320531"/>
            <a:ext cx="278390" cy="2783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693784" y="3205813"/>
            <a:ext cx="812900" cy="41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Policy Check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28210" y="2320531"/>
            <a:ext cx="278390" cy="2783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74874" y="3205813"/>
            <a:ext cx="812901" cy="417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Generate Variants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9300" y="2320531"/>
            <a:ext cx="278390" cy="27839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55964" y="3310210"/>
            <a:ext cx="812901" cy="20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Mentor AI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4822" y="2320531"/>
            <a:ext cx="278390" cy="27839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614783" y="3310210"/>
            <a:ext cx="812901" cy="20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Open PR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6208633" y="3940969"/>
            <a:ext cx="7699534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6208633" y="4303038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19" name="Shape 10"/>
          <p:cNvSpPr/>
          <p:nvPr/>
        </p:nvSpPr>
        <p:spPr>
          <a:xfrm>
            <a:off x="6208633" y="4717733"/>
            <a:ext cx="3673554" cy="2748558"/>
          </a:xfrm>
          <a:prstGeom prst="roundRect">
            <a:avLst>
              <a:gd name="adj" fmla="val 473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1"/>
          <p:cNvSpPr/>
          <p:nvPr/>
        </p:nvSpPr>
        <p:spPr>
          <a:xfrm>
            <a:off x="6216253" y="4725353"/>
            <a:ext cx="365831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2"/>
          <p:cNvSpPr/>
          <p:nvPr/>
        </p:nvSpPr>
        <p:spPr>
          <a:xfrm>
            <a:off x="6360795" y="4793575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7645003" y="4793575"/>
            <a:ext cx="98393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925401" y="4793575"/>
            <a:ext cx="80474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Role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216253" y="5009078"/>
            <a:ext cx="3658314" cy="4310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6"/>
          <p:cNvSpPr/>
          <p:nvPr/>
        </p:nvSpPr>
        <p:spPr>
          <a:xfrm>
            <a:off x="6360795" y="5077301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7645003" y="5077301"/>
            <a:ext cx="98393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Python + GPT-4 / Llama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8925401" y="5077301"/>
            <a:ext cx="80474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Generates fake vulns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6216253" y="5440085"/>
            <a:ext cx="3658314" cy="5782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0"/>
          <p:cNvSpPr/>
          <p:nvPr/>
        </p:nvSpPr>
        <p:spPr>
          <a:xfrm>
            <a:off x="6360795" y="5508308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Injection Engine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7645003" y="5508308"/>
            <a:ext cx="98393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Python AST Parser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925401" y="5508308"/>
            <a:ext cx="804743" cy="44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Safely inserts mock bugs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216253" y="6018371"/>
            <a:ext cx="3658314" cy="5782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/>
          <p:nvPr/>
        </p:nvSpPr>
        <p:spPr>
          <a:xfrm>
            <a:off x="6360795" y="6086594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Scanner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645003" y="6086594"/>
            <a:ext cx="98393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ArmorClaw SDK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925401" y="6086594"/>
            <a:ext cx="804743" cy="44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Detects injected issues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216253" y="6596658"/>
            <a:ext cx="3658314" cy="4310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6360795" y="6664881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Policy &amp; Logs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7645003" y="6664881"/>
            <a:ext cx="98393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ArmorIQ Platform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925401" y="6664881"/>
            <a:ext cx="80474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Approvals, audit trail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216253" y="7027664"/>
            <a:ext cx="3658314" cy="4310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/>
          <p:nvPr/>
        </p:nvSpPr>
        <p:spPr>
          <a:xfrm>
            <a:off x="6360795" y="7095887"/>
            <a:ext cx="98774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7645003" y="7095887"/>
            <a:ext cx="98393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React + FastAPI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8925401" y="7095887"/>
            <a:ext cx="80474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Progress, leaderboard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10242233" y="4303038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Tech Stack</a:t>
            </a:r>
            <a:endParaRPr lang="en-US" sz="1950" dirty="0"/>
          </a:p>
        </p:txBody>
      </p:sp>
      <p:sp>
        <p:nvSpPr>
          <p:cNvPr id="45" name="Shape 36"/>
          <p:cNvSpPr/>
          <p:nvPr/>
        </p:nvSpPr>
        <p:spPr>
          <a:xfrm>
            <a:off x="10242233" y="4717733"/>
            <a:ext cx="3673554" cy="2148602"/>
          </a:xfrm>
          <a:prstGeom prst="roundRect">
            <a:avLst>
              <a:gd name="adj" fmla="val 605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7"/>
          <p:cNvSpPr/>
          <p:nvPr/>
        </p:nvSpPr>
        <p:spPr>
          <a:xfrm>
            <a:off x="10249853" y="4725353"/>
            <a:ext cx="365831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/>
          <p:nvPr/>
        </p:nvSpPr>
        <p:spPr>
          <a:xfrm>
            <a:off x="10394394" y="4793575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Layer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11861483" y="4793575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10249853" y="5009078"/>
            <a:ext cx="3658314" cy="2837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1"/>
          <p:cNvSpPr/>
          <p:nvPr/>
        </p:nvSpPr>
        <p:spPr>
          <a:xfrm>
            <a:off x="10394394" y="5077301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Backend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11861483" y="5077301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10249853" y="5292804"/>
            <a:ext cx="365831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4"/>
          <p:cNvSpPr/>
          <p:nvPr/>
        </p:nvSpPr>
        <p:spPr>
          <a:xfrm>
            <a:off x="10394394" y="5361027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/ LLM</a:t>
            </a:r>
            <a:endParaRPr lang="en-US" sz="1100" dirty="0"/>
          </a:p>
        </p:txBody>
      </p:sp>
      <p:sp>
        <p:nvSpPr>
          <p:cNvPr id="54" name="Text 45"/>
          <p:cNvSpPr/>
          <p:nvPr/>
        </p:nvSpPr>
        <p:spPr>
          <a:xfrm>
            <a:off x="11861483" y="5361027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OpenAI API or Local Llama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10249853" y="5576530"/>
            <a:ext cx="3658314" cy="2837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7"/>
          <p:cNvSpPr/>
          <p:nvPr/>
        </p:nvSpPr>
        <p:spPr>
          <a:xfrm>
            <a:off x="10394394" y="5644753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57" name="Text 48"/>
          <p:cNvSpPr/>
          <p:nvPr/>
        </p:nvSpPr>
        <p:spPr>
          <a:xfrm>
            <a:off x="11861483" y="5644753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ArmorClaw SDK</a:t>
            </a:r>
            <a:endParaRPr lang="en-US" sz="1100" dirty="0"/>
          </a:p>
        </p:txBody>
      </p:sp>
      <p:sp>
        <p:nvSpPr>
          <p:cNvPr id="58" name="Shape 49"/>
          <p:cNvSpPr/>
          <p:nvPr/>
        </p:nvSpPr>
        <p:spPr>
          <a:xfrm>
            <a:off x="10249853" y="5860256"/>
            <a:ext cx="3658314" cy="4310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0"/>
          <p:cNvSpPr/>
          <p:nvPr/>
        </p:nvSpPr>
        <p:spPr>
          <a:xfrm>
            <a:off x="10394394" y="5928479"/>
            <a:ext cx="1170623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Policy Enforcement</a:t>
            </a:r>
            <a:endParaRPr lang="en-US" sz="1100" dirty="0"/>
          </a:p>
        </p:txBody>
      </p:sp>
      <p:sp>
        <p:nvSpPr>
          <p:cNvPr id="60" name="Text 51"/>
          <p:cNvSpPr/>
          <p:nvPr/>
        </p:nvSpPr>
        <p:spPr>
          <a:xfrm>
            <a:off x="11861483" y="5928479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ArmorIQ SDK (Python)</a:t>
            </a:r>
            <a:endParaRPr lang="en-US" sz="1100" dirty="0"/>
          </a:p>
        </p:txBody>
      </p:sp>
      <p:sp>
        <p:nvSpPr>
          <p:cNvPr id="61" name="Shape 52"/>
          <p:cNvSpPr/>
          <p:nvPr/>
        </p:nvSpPr>
        <p:spPr>
          <a:xfrm>
            <a:off x="10249853" y="6291263"/>
            <a:ext cx="3658314" cy="2837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3"/>
          <p:cNvSpPr/>
          <p:nvPr/>
        </p:nvSpPr>
        <p:spPr>
          <a:xfrm>
            <a:off x="10394394" y="6359485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3" name="Text 54"/>
          <p:cNvSpPr/>
          <p:nvPr/>
        </p:nvSpPr>
        <p:spPr>
          <a:xfrm>
            <a:off x="11861483" y="6359485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React + Tailwind</a:t>
            </a:r>
            <a:endParaRPr lang="en-US" sz="1100" dirty="0"/>
          </a:p>
        </p:txBody>
      </p:sp>
      <p:sp>
        <p:nvSpPr>
          <p:cNvPr id="64" name="Shape 55"/>
          <p:cNvSpPr/>
          <p:nvPr/>
        </p:nvSpPr>
        <p:spPr>
          <a:xfrm>
            <a:off x="10249853" y="6574988"/>
            <a:ext cx="365831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56"/>
          <p:cNvSpPr/>
          <p:nvPr/>
        </p:nvSpPr>
        <p:spPr>
          <a:xfrm>
            <a:off x="10394394" y="6643211"/>
            <a:ext cx="117062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Database</a:t>
            </a:r>
            <a:endParaRPr lang="en-US" sz="1100" dirty="0"/>
          </a:p>
        </p:txBody>
      </p:sp>
      <p:sp>
        <p:nvSpPr>
          <p:cNvPr id="66" name="Text 57"/>
          <p:cNvSpPr/>
          <p:nvPr/>
        </p:nvSpPr>
        <p:spPr>
          <a:xfrm>
            <a:off x="11861483" y="6643211"/>
            <a:ext cx="19022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78AAC34-CE6C-90D2-6C86-21BFAB85F1E7}"/>
              </a:ext>
            </a:extLst>
          </p:cNvPr>
          <p:cNvSpPr/>
          <p:nvPr/>
        </p:nvSpPr>
        <p:spPr>
          <a:xfrm>
            <a:off x="12663931" y="7590500"/>
            <a:ext cx="1877259" cy="602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60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2306598"/>
            <a:ext cx="4657963" cy="558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Key Features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22233" y="2996208"/>
            <a:ext cx="1318593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22233" y="3226951"/>
            <a:ext cx="536496" cy="804863"/>
          </a:xfrm>
          <a:prstGeom prst="roundRect">
            <a:avLst>
              <a:gd name="adj" fmla="val 360070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89873" y="3508653"/>
            <a:ext cx="201216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45883" y="3361015"/>
            <a:ext cx="314075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LLM-Powered Vuln Generation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45883" y="3692723"/>
            <a:ext cx="1256228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reads your actual code and generates </a:t>
            </a:r>
            <a:r>
              <a:rPr lang="en-US" sz="10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contextually relevant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fake bugs. Example: adds a missing SSL bypass if you use </a:t>
            </a:r>
            <a:r>
              <a:rPr lang="en-US" sz="105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requests.get()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 Never repeats — adaptive difficulty.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2233" y="4118967"/>
            <a:ext cx="536496" cy="804863"/>
          </a:xfrm>
          <a:prstGeom prst="roundRect">
            <a:avLst>
              <a:gd name="adj" fmla="val 360070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89873" y="4400669"/>
            <a:ext cx="201216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345883" y="4253032"/>
            <a:ext cx="307086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ArmorClaw Detection Training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45883" y="4584740"/>
            <a:ext cx="1256228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Developer runs </a:t>
            </a:r>
            <a:r>
              <a:rPr lang="en-US" sz="10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ArmorClaw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to find injected issues. ArmorClaw can't tell fake from real that's the point. Learn to use </a:t>
            </a:r>
            <a:r>
              <a:rPr lang="en-US" sz="10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real enterprise security tools.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233" y="5010983"/>
            <a:ext cx="536496" cy="804863"/>
          </a:xfrm>
          <a:prstGeom prst="roundRect">
            <a:avLst>
              <a:gd name="adj" fmla="val 360070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89873" y="5292685"/>
            <a:ext cx="201216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345883" y="5145048"/>
            <a:ext cx="2328982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ArmorIQ Safety Gates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45883" y="5476756"/>
            <a:ext cx="1256228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Policy: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Agent only injects during training hours (9 AM – 6 PM). </a:t>
            </a:r>
            <a:r>
              <a:rPr lang="en-US" sz="10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Delegation: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Production branches require manager approval. </a:t>
            </a:r>
            <a:r>
              <a:rPr lang="en-US" sz="10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Audit: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Every injection logged forever.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2233" y="5903000"/>
            <a:ext cx="536496" cy="804863"/>
          </a:xfrm>
          <a:prstGeom prst="roundRect">
            <a:avLst>
              <a:gd name="adj" fmla="val 360070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89873" y="6184702"/>
            <a:ext cx="201216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345883" y="6037064"/>
            <a:ext cx="2948107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Auto-Grading &amp; Leaderboard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45883" y="6368772"/>
            <a:ext cx="1256228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Time to detect → </a:t>
            </a:r>
            <a:r>
              <a:rPr lang="en-US" sz="10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Score.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Missed vulnerabilities → Negative score. Weekly team leaderboard = </a:t>
            </a:r>
            <a:r>
              <a:rPr lang="en-US" sz="105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gamified security learning.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2233" y="6795016"/>
            <a:ext cx="536496" cy="804863"/>
          </a:xfrm>
          <a:prstGeom prst="roundRect">
            <a:avLst>
              <a:gd name="adj" fmla="val 360070"/>
            </a:avLst>
          </a:prstGeom>
          <a:solidFill>
            <a:srgbClr val="FE6A03"/>
          </a:solidFill>
          <a:ln w="7620">
            <a:solidFill>
              <a:srgbClr val="E45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89873" y="7076718"/>
            <a:ext cx="201216" cy="24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5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345883" y="6929080"/>
            <a:ext cx="2639735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"Safe Secret" Technology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45883" y="7260788"/>
            <a:ext cx="1256228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Injected secrets are prefixed with </a:t>
            </a:r>
            <a:r>
              <a:rPr lang="en-US" sz="1050" dirty="0">
                <a:solidFill>
                  <a:srgbClr val="B5B5B5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EVIL_MENTOR_FAKE_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 ArmorIQ policy </a:t>
            </a:r>
            <a:r>
              <a:rPr lang="en-US" sz="1050" b="1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prevents them from ever reaching production.</a:t>
            </a: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Zero real security risk.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6C43B8-1A3B-C576-D615-303A1CB6E2C6}"/>
              </a:ext>
            </a:extLst>
          </p:cNvPr>
          <p:cNvSpPr/>
          <p:nvPr/>
        </p:nvSpPr>
        <p:spPr>
          <a:xfrm>
            <a:off x="12868507" y="7694341"/>
            <a:ext cx="1672683" cy="45846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680561"/>
            <a:ext cx="5016222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Impact + Feasibility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22233" y="1434108"/>
            <a:ext cx="7699534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22233" y="1733074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Who Benefits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722233" y="2185749"/>
            <a:ext cx="7699534" cy="1433870"/>
          </a:xfrm>
          <a:prstGeom prst="roundRect">
            <a:avLst>
              <a:gd name="adj" fmla="val 90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29853" y="2193369"/>
            <a:ext cx="768429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74276" y="2261592"/>
            <a:ext cx="27810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Stakeholder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51803" y="2261592"/>
            <a:ext cx="4317921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Benefit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9853" y="2477095"/>
            <a:ext cx="7684294" cy="2837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4276" y="2545318"/>
            <a:ext cx="27810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Junior developers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51803" y="2545318"/>
            <a:ext cx="4317921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Learn security by doing, at their own pace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9853" y="2760821"/>
            <a:ext cx="768429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74276" y="2829044"/>
            <a:ext cx="27810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Engineering managers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51803" y="2829044"/>
            <a:ext cx="4317921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Measurable security skills growth for 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853" y="3044547"/>
            <a:ext cx="7684294" cy="2837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74276" y="3112770"/>
            <a:ext cx="27810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Startups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951803" y="3112770"/>
            <a:ext cx="4317921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Security training without hiring a specialist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9853" y="3328273"/>
            <a:ext cx="7684294" cy="2837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74276" y="3396496"/>
            <a:ext cx="2781062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 source maintainers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51803" y="3396496"/>
            <a:ext cx="4317921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 contributors before they merge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22233" y="3733324"/>
            <a:ext cx="7699534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2233" y="3994309"/>
            <a:ext cx="962382" cy="797719"/>
          </a:xfrm>
          <a:prstGeom prst="roundRect">
            <a:avLst>
              <a:gd name="adj" fmla="val 1629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804" y="4291489"/>
            <a:ext cx="203121" cy="20312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829038" y="4138732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Cost</a:t>
            </a:r>
            <a:endParaRPr lang="en-US" sz="1950" dirty="0"/>
          </a:p>
        </p:txBody>
      </p:sp>
      <p:sp>
        <p:nvSpPr>
          <p:cNvPr id="26" name="Text 22"/>
          <p:cNvSpPr/>
          <p:nvPr/>
        </p:nvSpPr>
        <p:spPr>
          <a:xfrm>
            <a:off x="1829038" y="4500324"/>
            <a:ext cx="2783205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LLM API ~$0.10 per injection; ArmorClaw free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756767" y="4788218"/>
            <a:ext cx="6592848" cy="7620"/>
          </a:xfrm>
          <a:prstGeom prst="roundRect">
            <a:avLst>
              <a:gd name="adj" fmla="val 1706328"/>
            </a:avLst>
          </a:prstGeom>
          <a:solidFill>
            <a:srgbClr val="383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722233" y="4864179"/>
            <a:ext cx="1924883" cy="797719"/>
          </a:xfrm>
          <a:prstGeom prst="roundRect">
            <a:avLst>
              <a:gd name="adj" fmla="val 1629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3055" y="5161359"/>
            <a:ext cx="203121" cy="20312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791539" y="5008602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Safety</a:t>
            </a:r>
            <a:endParaRPr lang="en-US" sz="1950" dirty="0"/>
          </a:p>
        </p:txBody>
      </p:sp>
      <p:sp>
        <p:nvSpPr>
          <p:cNvPr id="31" name="Text 26"/>
          <p:cNvSpPr/>
          <p:nvPr/>
        </p:nvSpPr>
        <p:spPr>
          <a:xfrm>
            <a:off x="2791539" y="5370195"/>
            <a:ext cx="2652355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ArmorIQ policy prevents all production runs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2719268" y="5658088"/>
            <a:ext cx="5630347" cy="7620"/>
          </a:xfrm>
          <a:prstGeom prst="roundRect">
            <a:avLst>
              <a:gd name="adj" fmla="val 1706328"/>
            </a:avLst>
          </a:prstGeom>
          <a:solidFill>
            <a:srgbClr val="383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22233" y="5734050"/>
            <a:ext cx="2887266" cy="797719"/>
          </a:xfrm>
          <a:prstGeom prst="roundRect">
            <a:avLst>
              <a:gd name="adj" fmla="val 1629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4306" y="6031230"/>
            <a:ext cx="203121" cy="20312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753922" y="5878473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Deployment</a:t>
            </a:r>
            <a:endParaRPr lang="en-US" sz="1950" dirty="0"/>
          </a:p>
        </p:txBody>
      </p:sp>
      <p:sp>
        <p:nvSpPr>
          <p:cNvPr id="36" name="Text 30"/>
          <p:cNvSpPr/>
          <p:nvPr/>
        </p:nvSpPr>
        <p:spPr>
          <a:xfrm>
            <a:off x="3753922" y="6240066"/>
            <a:ext cx="3691890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Docker container + ArmorIQ API key; 30 min to first injection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681651" y="6527959"/>
            <a:ext cx="4667964" cy="7620"/>
          </a:xfrm>
          <a:prstGeom prst="roundRect">
            <a:avLst>
              <a:gd name="adj" fmla="val 1706328"/>
            </a:avLst>
          </a:prstGeom>
          <a:solidFill>
            <a:srgbClr val="383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722233" y="6603921"/>
            <a:ext cx="3849767" cy="944999"/>
          </a:xfrm>
          <a:prstGeom prst="roundRect">
            <a:avLst>
              <a:gd name="adj" fmla="val 13759"/>
            </a:avLst>
          </a:prstGeom>
          <a:solidFill>
            <a:srgbClr val="1F1F1F"/>
          </a:solidFill>
          <a:ln w="762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5556" y="6974800"/>
            <a:ext cx="203121" cy="20312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716423" y="6748343"/>
            <a:ext cx="2508052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Scalability</a:t>
            </a:r>
            <a:endParaRPr lang="en-US" sz="1950" dirty="0"/>
          </a:p>
        </p:txBody>
      </p:sp>
      <p:sp>
        <p:nvSpPr>
          <p:cNvPr id="41" name="Text 34"/>
          <p:cNvSpPr/>
          <p:nvPr/>
        </p:nvSpPr>
        <p:spPr>
          <a:xfrm>
            <a:off x="4716423" y="7109936"/>
            <a:ext cx="3560921" cy="29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instance serves hundreds of developers; ArmorIQ policies scale across teams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682</Words>
  <Application>Microsoft Office PowerPoint</Application>
  <PresentationFormat>Custom</PresentationFormat>
  <Paragraphs>150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Inter Tight</vt:lpstr>
      <vt:lpstr>Arial</vt:lpstr>
      <vt:lpstr>Consolas</vt:lpstr>
      <vt:lpstr>Inter Tight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sahil kumar</cp:lastModifiedBy>
  <cp:revision>2</cp:revision>
  <dcterms:created xsi:type="dcterms:W3CDTF">2026-04-27T12:21:18Z</dcterms:created>
  <dcterms:modified xsi:type="dcterms:W3CDTF">2026-04-27T12:25:41Z</dcterms:modified>
</cp:coreProperties>
</file>